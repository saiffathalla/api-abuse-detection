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</a:rPr>
              <a:t>REST API Abuse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AED6F1"/>
                </a:solidFill>
              </a:rPr>
              <a:t>Using Request Pattern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>
                <a:solidFill>
                  <a:srgbClr val="AED6F1"/>
                </a:solidFill>
              </a:rPr>
              <a:t>A Machine Learning Approach to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7FB3D3"/>
                </a:solidFill>
              </a:rPr>
              <a:t>IEEE CloudCom 2021  |  10,000 Attack Records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A1A2E"/>
                </a:solidFill>
              </a:rPr>
              <a:t>•  REST APIs power 83% of internet traffic — and are the #1 attack surface for web applications (Gartner 2022)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•  Traditional rule-based IDS cannot adapt to new, polymorphic attack patterns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•  10 distinct attack types require accurate multi-class classification, not binary detection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•  Manual analysis of millions of API requests is operationally infeasible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•  Financial damage from API attacks averaged $2.5M per incident in this dataset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•  Goal: Build an ML pipeline that automatically classifies attack types from request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914400"/>
            <a:ext cx="3474720" cy="502920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005840"/>
            <a:ext cx="3291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</a:rPr>
              <a:t>10 Attack Types: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SQL Injection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DDoS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Phishing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Malware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Ransomware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Brute Force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Man-in-the-Middle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XSS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Privilege Escalation</a:t>
            </a:r>
          </a:p>
          <a:p>
            <a:pPr algn="l"/>
            <a:r>
              <a:rPr sz="1300" b="0">
                <a:solidFill>
                  <a:srgbClr val="1F3864"/>
                </a:solidFill>
              </a:rPr>
              <a:t> Zero-day Exploit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12880" cy="8229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3864"/>
                </a:solidFill>
              </a:rPr>
              <a:t>Syed et al. (IEEE CloudCom 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API Security via ML — RF &amp; XGBoost outperform signature-based IDS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11612880" cy="822960"/>
          </a:xfrm>
          <a:prstGeom prst="rect">
            <a:avLst/>
          </a:prstGeom>
          <a:solidFill>
            <a:srgbClr val="D6EAF8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3864"/>
                </a:solidFill>
              </a:rPr>
              <a:t>Buczak &amp; Guven (IEEE COMST 2016)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Survey: Ensemble methods dominate ML-based intrusion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11612880" cy="8229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3864"/>
                </a:solidFill>
              </a:rPr>
              <a:t>Vinayakumar et al. (IEEE Access 2019)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Deep Learning IDS — LSTM outperforms RF on sequential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40"/>
            <a:ext cx="11612880" cy="822960"/>
          </a:xfrm>
          <a:prstGeom prst="rect">
            <a:avLst/>
          </a:prstGeom>
          <a:solidFill>
            <a:srgbClr val="D6EAF8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3864"/>
                </a:solidFill>
              </a:rPr>
              <a:t>Ferrag et al. (IEEE IoT 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CNN effective for IoT security — feature engineering is 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83480"/>
            <a:ext cx="11612880" cy="8229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3864"/>
                </a:solidFill>
              </a:rPr>
              <a:t>Sharafaldin et al. (ICISSP 2018)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CIC-IDS-2017 benchmark — flow features key for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Methodology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2834640" cy="2377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1  Data 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10,000 records, 8 columns, 0 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10,000 records, 8 columns, 0 missing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914400"/>
            <a:ext cx="2834640" cy="237744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51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2 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12 visualisations: distributions, correlations, heatmaps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12 visualisations: distributions, correlations, heatmaps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2834640" cy="2377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051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3 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15 new features: temporal, damage, risk scores, frequencies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15 new features: temporal, damage, risk scores, frequencies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39" y="914400"/>
            <a:ext cx="283464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79" y="1051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4  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79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Label encoding + StandardScaler + 80/20 stratified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79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Label encoding + StandardScaler + 80/20 stratified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657600"/>
            <a:ext cx="2834640" cy="2377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5  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51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5 classifiers: LR, DT, RF, XGBoost, Gradient Boosting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5 classifiers: LR, DT, RF, XGBoost, Gradient Boosting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657600"/>
            <a:ext cx="2834640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6  Hyperparameter 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251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GridSearchCV — 36 RF combinations, 5-fold 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GridSearchCV — 36 RF combinations, 5-fold CV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57600"/>
            <a:ext cx="283464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7 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251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Confusion matrix, ROC-AUC, classification report, CV boxplots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Confusion matrix, ROC-AUC, classification report, CV boxplots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39" y="3657600"/>
            <a:ext cx="2834640" cy="2377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79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8 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79" y="4251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Streamlit web app — live attack type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79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D5E8F8"/>
                </a:solidFill>
              </a:rPr>
              <a:t>Streamlit web app — live attack type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 Python 3.14       — Core language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scikit-learn 1.3  — ML models, preprocessing, evaluation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XGBoost 2.0       — Gradient boosting with eval_set tracking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pandas / numpy    — Data manipulation and feature engineering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matplotlib / seaborn — 12 visualisation figures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Streamlit 1.35    — Interactive web application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joblib            — Model serialisation (.joblib files)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GitHub            — Version control and deployment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Project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api_abuse_detection/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data/  cyber_attacks_dataset.csv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notebooks/  analysis.py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src/  data_loader.py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     preprocessing.py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     feature_engineering.py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     models.py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     evaluation.py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models/  *.joblib (saved models)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outputs/figures/  12 PNG plots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outputs/reports/  classification reports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main.py   app.py   requirements.txt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Results &amp; 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2004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868680"/>
            <a:ext cx="1645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960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868680"/>
            <a:ext cx="18288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9" y="960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F1 Weighted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868680"/>
            <a:ext cx="13716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59" y="960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71600"/>
            <a:ext cx="32004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7AE60"/>
                </a:solidFill>
              </a:rPr>
              <a:t>Logistic 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371600"/>
            <a:ext cx="164592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1463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7AE60"/>
                </a:solidFill>
              </a:rPr>
              <a:t>10.50%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371600"/>
            <a:ext cx="18288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1463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7AE60"/>
                </a:solidFill>
              </a:rPr>
              <a:t>0.0943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371600"/>
            <a:ext cx="13716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59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7AE60"/>
                </a:solidFill>
              </a:rPr>
              <a:t>Best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874519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A1A2E"/>
                </a:solidFill>
              </a:rPr>
              <a:t>Decision Tree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87451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39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10.10%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1874519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59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0.0924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874519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59" y="1965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77440"/>
            <a:ext cx="32004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A1A2E"/>
                </a:solidFill>
              </a:rPr>
              <a:t>RF Tuned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2377440"/>
            <a:ext cx="164592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39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 9.05%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377440"/>
            <a:ext cx="18288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59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0.0908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377440"/>
            <a:ext cx="13716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59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8036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8803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39" y="2971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 8.60%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28803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59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0.0858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288036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59" y="2971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83280"/>
            <a:ext cx="32004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A1A2E"/>
                </a:solidFill>
              </a:rPr>
              <a:t>XGBoost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3383280"/>
            <a:ext cx="164592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39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 8.05%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383280"/>
            <a:ext cx="18288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59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0.0802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383280"/>
            <a:ext cx="1371600" cy="502920"/>
          </a:xfrm>
          <a:prstGeom prst="rect">
            <a:avLst/>
          </a:prstGeom>
          <a:solidFill>
            <a:srgbClr val="EBF5FB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59" y="3474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88620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A1A2E"/>
                </a:solidFill>
              </a:rPr>
              <a:t>Gradient Boosting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39" y="397763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 8.00%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38862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66359" y="39776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0.0797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38862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95159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888888"/>
                </a:solidFill>
              </a:rPr>
              <a:t>Note: ~10% = random chance for 10 balanced classes. Dataset is synthetic — labels were randomly assigned.</a:t>
            </a:r>
          </a:p>
        </p:txBody>
      </p:sp>
      <p:pic>
        <p:nvPicPr>
          <p:cNvPr id="62" name="Picture 61" descr="1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868680"/>
            <a:ext cx="3474720" cy="1225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Key Visualisations</a:t>
            </a:r>
          </a:p>
        </p:txBody>
      </p:sp>
      <p:pic>
        <p:nvPicPr>
          <p:cNvPr id="5" name="Picture 4" descr="07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760720" cy="2283024"/>
          </a:xfrm>
          <a:prstGeom prst="rect">
            <a:avLst/>
          </a:prstGeom>
        </p:spPr>
      </p:pic>
      <p:pic>
        <p:nvPicPr>
          <p:cNvPr id="6" name="Picture 5" descr="08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760720" cy="2128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Confusion Matrices (RF Tuned vs XGBoost)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Multi-class OvR ROC Curves with AUC 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Feature Importance &amp; XGBoost Training History</a:t>
            </a:r>
          </a:p>
        </p:txBody>
      </p:sp>
      <p:pic>
        <p:nvPicPr>
          <p:cNvPr id="5" name="Picture 4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943600" cy="4129280"/>
          </a:xfrm>
          <a:prstGeom prst="rect">
            <a:avLst/>
          </a:prstGeom>
        </p:spPr>
      </p:pic>
      <p:pic>
        <p:nvPicPr>
          <p:cNvPr id="6" name="Picture 5" descr="10_xgboost_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77240"/>
            <a:ext cx="5486400" cy="30064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5212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Top features: Severity_Numeric, Log_Damage, Risk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Flat validation loss confirms no learnable signal in synthetic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Challenges Faced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760720" cy="17373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Synthetic Dataset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333333"/>
                </a:solidFill>
              </a:rPr>
              <a:t>Attack_Type labels were randomly assigned — no statistical signal exists between features and target.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914400"/>
            <a:ext cx="5760720" cy="17373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Deprecated API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333333"/>
                </a:solidFill>
              </a:rPr>
              <a:t>scikit-learn removed multi_class param in LogisticRegression in newer versions — fixed by removing argument.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5760720" cy="17373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926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Unicode Encoding on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333333"/>
                </a:solidFill>
              </a:rPr>
              <a:t>Special characters (arrows, em-dashes) caused UnicodeEncodeError on Windows cp1252 terminal — resolved with UTF-8 wrapper.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834640"/>
            <a:ext cx="5760720" cy="17373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926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SeriesGroupBy.map()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333333"/>
                </a:solidFill>
              </a:rPr>
              <a:t>Calling .map() on a GroupBy object raised AttributeError — fixed by removing unused intermediate variables.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5760720" cy="17373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XGBoost Module Not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333333"/>
                </a:solidFill>
              </a:rPr>
              <a:t>XGBoost was not pre-installed — resolved with python -m pip install xgboost.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4754880"/>
            <a:ext cx="5760720" cy="1737360"/>
          </a:xfrm>
          <a:prstGeom prst="rect">
            <a:avLst/>
          </a:prstGeom>
          <a:solidFill>
            <a:srgbClr val="EBF5FB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Git Push Rejection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333333"/>
                </a:solidFill>
              </a:rPr>
              <a:t>Remote contained extra commits (GitHub auto-created files) — resolved with git pull --rebase before push.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 Complete end-to-end ML pipeline implemented and deployed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5 models trained, tuned, and evaluated with GridSearchCV + 5-fold CV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15 domain-specific features engineered from raw metadata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Interactive Streamlit app deployed with live prediction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All 12 visualisations generated and saved automatically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Full alignment with IEEE CloudCom 2021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822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 Apply to real datasets: UNSW-NB15, CIC-IDS-2017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Add LSTM/Transformer for sequential request modelling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Real-time streaming inference with Apache Kafka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Anomaly detection for zero-day attacks (autoencoders)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Live dashboard monitoring with alert system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Federated learning for privacy-preserving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8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200">
                <a:solidFill>
                  <a:srgbClr val="AED6F1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7FB3D3"/>
                </a:solidFill>
              </a:rPr>
              <a:t>GitHub: github.com/Saiffathalla/api-abuse-detection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5D8AA8"/>
                </a:solidFill>
              </a:rPr>
              <a:t>IEEE CloudCom 2021 | REST API Abuse Detection Using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